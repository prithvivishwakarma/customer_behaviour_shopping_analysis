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Plus Jakarta Sans ExtraBold"/>
      <p:bold r:id="rId18"/>
      <p:boldItalic r:id="rId19"/>
    </p:embeddedFont>
    <p:embeddedFont>
      <p:font typeface="Inter SemiBold"/>
      <p:regular r:id="rId20"/>
      <p:bold r:id="rId21"/>
      <p:italic r:id="rId22"/>
      <p:boldItalic r:id="rId23"/>
    </p:embeddedFont>
    <p:embeddedFont>
      <p:font typeface="Inter"/>
      <p:bold r:id="rId24"/>
      <p:boldItalic r:id="rId25"/>
    </p:embeddedFont>
    <p:embeddedFont>
      <p:font typeface="Plus Jakarta Sans"/>
      <p:regular r:id="rId26"/>
      <p:bold r:id="rId27"/>
      <p:italic r:id="rId28"/>
      <p:boldItalic r:id="rId29"/>
    </p:embeddedFont>
    <p:embeddedFont>
      <p:font typeface="Plus Jakarta Sans SemiBold"/>
      <p:regular r:id="rId30"/>
      <p:bold r:id="rId31"/>
      <p:italic r:id="rId32"/>
      <p:boldItalic r:id="rId33"/>
    </p:embeddedFont>
    <p:embeddedFont>
      <p:font typeface="Inter Medium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771DAF-9C12-4189-9615-9EEFAA0BC008}">
  <a:tblStyle styleId="{F5771DAF-9C12-4189-9615-9EEFAA0BC00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-bold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-regular.fntdata"/><Relationship Id="rId25" Type="http://schemas.openxmlformats.org/officeDocument/2006/relationships/font" Target="fonts/Inter-boldItalic.fntdata"/><Relationship Id="rId28" Type="http://schemas.openxmlformats.org/officeDocument/2006/relationships/font" Target="fonts/PlusJakartaSans-italic.fntdata"/><Relationship Id="rId27" Type="http://schemas.openxmlformats.org/officeDocument/2006/relationships/font" Target="fonts/PlusJakarta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usJakarta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usJakartaSansSemiBold-bold.fntdata"/><Relationship Id="rId30" Type="http://schemas.openxmlformats.org/officeDocument/2006/relationships/font" Target="fonts/PlusJakartaSans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PlusJakartaSans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PlusJakartaSansSemiBold-italic.fntdata"/><Relationship Id="rId13" Type="http://schemas.openxmlformats.org/officeDocument/2006/relationships/slide" Target="slides/slide7.xml"/><Relationship Id="rId35" Type="http://schemas.openxmlformats.org/officeDocument/2006/relationships/font" Target="fonts/InterMedium-bold.fntdata"/><Relationship Id="rId12" Type="http://schemas.openxmlformats.org/officeDocument/2006/relationships/slide" Target="slides/slide6.xml"/><Relationship Id="rId34" Type="http://schemas.openxmlformats.org/officeDocument/2006/relationships/font" Target="fonts/InterMedium-regular.fntdata"/><Relationship Id="rId15" Type="http://schemas.openxmlformats.org/officeDocument/2006/relationships/slide" Target="slides/slide9.xml"/><Relationship Id="rId37" Type="http://schemas.openxmlformats.org/officeDocument/2006/relationships/font" Target="fonts/InterMedium-boldItalic.fntdata"/><Relationship Id="rId14" Type="http://schemas.openxmlformats.org/officeDocument/2006/relationships/slide" Target="slides/slide8.xml"/><Relationship Id="rId36" Type="http://schemas.openxmlformats.org/officeDocument/2006/relationships/font" Target="fonts/InterMedium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lusJakartaSansExtraBold-boldItalic.fntdata"/><Relationship Id="rId18" Type="http://schemas.openxmlformats.org/officeDocument/2006/relationships/font" Target="fonts/PlusJakartaSans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4.png"/><Relationship Id="rId5" Type="http://schemas.openxmlformats.org/officeDocument/2006/relationships/image" Target="../media/image21.png"/><Relationship Id="rId6" Type="http://schemas.openxmlformats.org/officeDocument/2006/relationships/image" Target="../media/image8.png"/><Relationship Id="rId7" Type="http://schemas.openxmlformats.org/officeDocument/2006/relationships/image" Target="../media/image16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762000" y="1524000"/>
            <a:ext cx="1809600" cy="304800"/>
          </a:xfrm>
          <a:prstGeom prst="roundRect">
            <a:avLst>
              <a:gd fmla="val 50000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6667500" y="1524000"/>
            <a:ext cx="4572000" cy="3619500"/>
          </a:xfrm>
          <a:prstGeom prst="roundRect">
            <a:avLst>
              <a:gd fmla="val 6315" name="adj"/>
            </a:avLst>
          </a:prstGeom>
          <a:solidFill>
            <a:srgbClr val="FFFFFF"/>
          </a:solidFill>
          <a:ln cap="flat" cmpd="sng" w="1905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1524000"/>
            <a:ext cx="18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SQL &amp; PYTHON ANALYTICS</a:t>
            </a:r>
            <a:endParaRPr b="1" sz="950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6667500" y="1524000"/>
            <a:ext cx="4572000" cy="3619500"/>
          </a:xfrm>
          <a:prstGeom prst="roundRect">
            <a:avLst>
              <a:gd fmla="val 6315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2057400"/>
            <a:ext cx="533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Customer Shopping</a:t>
            </a:r>
            <a:br>
              <a:rPr b="0" lang="en-US" sz="420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</a:br>
            <a:r>
              <a:rPr b="0" lang="en-US" sz="420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Behavior Analysis</a:t>
            </a:r>
            <a:endParaRPr b="0" sz="4200">
              <a:solidFill>
                <a:srgbClr val="0F172A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7048500" y="1905000"/>
            <a:ext cx="3810000" cy="705000"/>
          </a:xfrm>
          <a:prstGeom prst="roundRect">
            <a:avLst>
              <a:gd fmla="val 1621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43975" y="2609850"/>
            <a:ext cx="19200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/>
          <p:nvPr/>
        </p:nvSpPr>
        <p:spPr>
          <a:xfrm>
            <a:off x="7048500" y="4057650"/>
            <a:ext cx="3810000" cy="705000"/>
          </a:xfrm>
          <a:prstGeom prst="roundRect">
            <a:avLst>
              <a:gd fmla="val 16216" name="adj"/>
            </a:avLst>
          </a:prstGeom>
          <a:solidFill>
            <a:srgbClr val="F0FDF4"/>
          </a:solidFill>
          <a:ln cap="flat" cmpd="sng" w="143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62000" y="3810000"/>
            <a:ext cx="5143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rigorous business intelligence audit of </a:t>
            </a:r>
            <a:r>
              <a:rPr b="0" lang="en-US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3,900 rows</a:t>
            </a:r>
            <a:r>
              <a:rPr b="0" lang="en-US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inside </a:t>
            </a:r>
            <a:r>
              <a:rPr b="1" lang="en-US" sz="1400">
                <a:solidFill>
                  <a:srgbClr val="059669"/>
                </a:solidFill>
                <a:latin typeface="Courier New"/>
                <a:ea typeface="Courier New"/>
                <a:cs typeface="Courier New"/>
                <a:sym typeface="Courier New"/>
              </a:rPr>
              <a:t>customer_shopping_behavior.csv</a:t>
            </a:r>
            <a:r>
              <a:rPr b="0" lang="en-US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mapped to structured MySQL pipelines.</a:t>
            </a:r>
            <a:endParaRPr b="0" sz="14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7239000" y="2019300"/>
            <a:ext cx="3429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Source Dataset</a:t>
            </a:r>
            <a:endParaRPr b="0" sz="10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customer_shopping_behavior.csv</a:t>
            </a:r>
            <a:endParaRPr b="1" sz="11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8743950" y="3124200"/>
            <a:ext cx="419100" cy="4191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239000" y="4171950"/>
            <a:ext cx="3429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15803D"/>
                </a:solidFill>
                <a:latin typeface="Inter Medium"/>
                <a:ea typeface="Inter Medium"/>
                <a:cs typeface="Inter Medium"/>
                <a:sym typeface="Inter Medium"/>
              </a:rPr>
              <a:t>Target Database</a:t>
            </a:r>
            <a:endParaRPr b="0" sz="1000">
              <a:solidFill>
                <a:srgbClr val="15803D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MySQL Data Warehouse</a:t>
            </a:r>
            <a:endParaRPr b="1" sz="1200">
              <a:solidFill>
                <a:srgbClr val="14532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743950" y="3147568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insights</a:t>
            </a:r>
            <a:endParaRPr sz="1600">
              <a:solidFill>
                <a:srgbClr val="FFFF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85962"/>
            <a:ext cx="50482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62000" y="1934616"/>
            <a:ext cx="50482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Prior to conducting business intelligence queries, the source pipeline underwent deep preprocessing and schema matching using Python (pandas):</a:t>
            </a:r>
            <a:endParaRPr/>
          </a:p>
        </p:txBody>
      </p:sp>
      <p:pic>
        <p:nvPicPr>
          <p:cNvPr id="105" name="Google Shape;105;p14" title="dashboarss.png"/>
          <p:cNvPicPr preferRelativeResize="0"/>
          <p:nvPr/>
        </p:nvPicPr>
        <p:blipFill rotWithShape="1">
          <a:blip r:embed="rId5">
            <a:alphaModFix/>
          </a:blip>
          <a:srcRect b="-1355" l="0" r="0" t="-2079"/>
          <a:stretch/>
        </p:blipFill>
        <p:spPr>
          <a:xfrm>
            <a:off x="6391275" y="1995475"/>
            <a:ext cx="50292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1104900" y="2856458"/>
            <a:ext cx="47053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Null Imputation: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Replaced 37 missing review_rating values with group-wise category medians.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104900" y="3551783"/>
            <a:ext cx="4705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Feature Engineering: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Generated age_group (via pd.qcut) &amp; normalized purchase_frequency_days mapping.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104900" y="4256633"/>
            <a:ext cx="4705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Redundancy Removal: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Dropped promo_code_used after verifying a 100% logical duplicate of discount_applied.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104900" y="4961483"/>
            <a:ext cx="47053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SQL Integration: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Loaded all records into MySQL (customer_behavior database) via SQLAlchemy connection.</a:t>
            </a:r>
            <a:endParaRPr/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870745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56607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427092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4975770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762000" y="571500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Engineering Pipeline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/>
          <p:nvPr/>
        </p:nvSpPr>
        <p:spPr>
          <a:xfrm>
            <a:off x="762000" y="2586037"/>
            <a:ext cx="76200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762000" y="2852737"/>
            <a:ext cx="5730716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 / Customer Segments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62000" y="3586162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Profiling demographic attributes, transactional volumes, and retention traits within our purchaser ecosystem.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04925"/>
            <a:ext cx="10668000" cy="498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/>
          <p:nvPr/>
        </p:nvSpPr>
        <p:spPr>
          <a:xfrm>
            <a:off x="762000" y="1994594"/>
            <a:ext cx="10668000" cy="27146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0" name="Google Shape;130;p16"/>
          <p:cNvGraphicFramePr/>
          <p:nvPr/>
        </p:nvGraphicFramePr>
        <p:xfrm>
          <a:off x="762000" y="19945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{F5771DAF-9C12-4189-9615-9EEFAA0BC008}</a:tableStyleId>
              </a:tblPr>
              <a:tblGrid>
                <a:gridCol w="1715550"/>
                <a:gridCol w="2243275"/>
                <a:gridCol w="1493775"/>
                <a:gridCol w="1390800"/>
                <a:gridCol w="3815050"/>
              </a:tblGrid>
              <a:tr h="6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Customer Segment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Definition (Previous Purchases)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Customer Count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 of Database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Strategic Action Item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6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New Customers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Exactly 1 purchase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2.05%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Automate high-priority 2nd order acquisition flows.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Returning Customers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Between 2 and 10 purchases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704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18.05%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Target with product bundles and localized category cross-sells.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Loyal Customers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Greater than 10 purchases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3,116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79.90%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Enroll in VIP tiers; maximize lifetime value via subscriptions.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1" name="Google Shape;131;p16"/>
          <p:cNvSpPr/>
          <p:nvPr/>
        </p:nvSpPr>
        <p:spPr>
          <a:xfrm>
            <a:off x="766762" y="2666107"/>
            <a:ext cx="17155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2482304" y="2666107"/>
            <a:ext cx="22432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4725590" y="2666107"/>
            <a:ext cx="14937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6219378" y="2666107"/>
            <a:ext cx="13907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7610177" y="2666107"/>
            <a:ext cx="38150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766762" y="3342382"/>
            <a:ext cx="17155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2482304" y="3342382"/>
            <a:ext cx="22432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4725590" y="3342382"/>
            <a:ext cx="14937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6219378" y="3342382"/>
            <a:ext cx="13907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7610177" y="3342382"/>
            <a:ext cx="38150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766762" y="4018657"/>
            <a:ext cx="17155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2482304" y="4018657"/>
            <a:ext cx="22432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4725590" y="4018657"/>
            <a:ext cx="14937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6219378" y="4018657"/>
            <a:ext cx="13907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7610177" y="4018657"/>
            <a:ext cx="38150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762000" y="571500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Customer Lifecycle Segmentation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04925"/>
            <a:ext cx="10668000" cy="498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762000" y="571500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Subscribers vs Non-Subscribers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762000" y="3124200"/>
            <a:ext cx="504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0" u="none" cap="none" strike="noStrike">
                <a:solidFill>
                  <a:srgbClr val="059669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$157,890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762000" y="4267200"/>
            <a:ext cx="5048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Male Total Revenue (67.7%)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381750" y="2251769"/>
            <a:ext cx="530066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Volume-Driven Market Dominance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381750" y="2651819"/>
            <a:ext cx="50482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closer look at transactional breakdown shows gender divergence is driven by demographic volume rather than average basket value: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724650" y="3282255"/>
            <a:ext cx="4705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Female Total Revenue: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Generates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$75,191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(32.3% share).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724650" y="3739455"/>
            <a:ext cx="4705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Average Basket Equilibrium: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Average purchase value remains constant at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$59.76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regardless of gender selection.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724650" y="4425255"/>
            <a:ext cx="47053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Action Item: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Target women-centric marketing acquisition campaigns to correct database skew, as female conversion yields identical structural basket sizes.</a:t>
            </a:r>
            <a:endParaRPr/>
          </a:p>
        </p:txBody>
      </p:sp>
      <p:pic>
        <p:nvPicPr>
          <p:cNvPr descr="image.png" id="166" name="Google Shape;16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296542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75374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439542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762000" y="571500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Gender Revenue Contribution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/>
          <p:nvPr/>
        </p:nvSpPr>
        <p:spPr>
          <a:xfrm>
            <a:off x="762000" y="2586037"/>
            <a:ext cx="76200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762000" y="2852737"/>
            <a:ext cx="5110638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 / Product &amp; Pricing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762000" y="3586162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Investigating regional purchasing, seasonal trends, category benchmarks, and promotion performance.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04925"/>
            <a:ext cx="10668000" cy="498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762000" y="4477791"/>
            <a:ext cx="10668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Since we implemented quartile-based grouping (pd.qcut) during engineering, the revenue distribution across age bands is remarkably uniform, hovering around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$57,000 to $59,000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per segment. Marketing programs should remain age-agnostic or utilize broad behavioral targeting over strict generational segmentation.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762000" y="571500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Revenue by Generational Age Group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762000" y="571500"/>
            <a:ext cx="56007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Category Performance leaders</a:t>
            </a:r>
            <a:endParaRPr/>
          </a:p>
        </p:txBody>
      </p:sp>
      <p:pic>
        <p:nvPicPr>
          <p:cNvPr descr="image.png" id="192" name="Google Shape;19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762000" y="2537519"/>
            <a:ext cx="5600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Clothing Dominates Transaction Share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762000" y="2937569"/>
            <a:ext cx="5334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Out of 3,900 observations,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Clothing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continues to hold the largest transactional volume with 1,737 total orders.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1104900" y="3682305"/>
            <a:ext cx="499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Clothing: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Led by Pants, Blouses, and Sweaters.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1104900" y="4139505"/>
            <a:ext cx="499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Accessories: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Powered by Jewelry, Backpacks, and Belts.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1104900" y="4596705"/>
            <a:ext cx="499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Footwear: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Led by Shoes, Sandals, and Sneakers.</a:t>
            </a:r>
            <a:endParaRPr/>
          </a:p>
        </p:txBody>
      </p:sp>
      <p:pic>
        <p:nvPicPr>
          <p:cNvPr descr="image.png" id="198" name="Google Shape;19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69659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15379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610992"/>
            <a:ext cx="2381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1104900" y="2767012"/>
            <a:ext cx="10325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Shipping Value Equivalence (Q4):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Standard shipping average order value ($59.54) has statistical parity with Express shipping ($59.78). This confirms express logistics options can be offered freely without risk of lowering user purchase bounds.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1104900" y="3452812"/>
            <a:ext cx="10325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Quality Satisfaction Anchors (Q3):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Under top ratings, items like Jackets, Jewelry, and Sweaters consistently lead the database with an average score of over 3.80, making them highly reliable choices for customer acquisition strategies.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1104900" y="4138612"/>
            <a:ext cx="10325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Promo-Sensitive Item Drivers (Q6):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Promotions and discount application rates peak strongly on daily staples (Blouses and Sweaters), showing conversion rates around 43%. Utilize these items selectively as margin leaders.</a:t>
            </a:r>
            <a:endParaRPr/>
          </a:p>
        </p:txBody>
      </p:sp>
      <p:pic>
        <p:nvPicPr>
          <p:cNvPr descr="image.png" id="209" name="Google Shape;20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78130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46710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152900"/>
            <a:ext cx="1524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762000" y="571500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Shipping &amp; Promotion Insights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/>
        </p:nvSpPr>
        <p:spPr>
          <a:xfrm>
            <a:off x="495300" y="571500"/>
            <a:ext cx="112014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Questions &amp; Answers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762000" y="1666875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Customer Shopping Behavior Data Analytics Presentation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762000" y="2352675"/>
            <a:ext cx="10668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Refer to customer_shopping_behavior.csv for all raw data points.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762000" y="3124200"/>
            <a:ext cx="106680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Analysis performed with Python 3.14 &amp; SQL MySQL engine wrapper.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